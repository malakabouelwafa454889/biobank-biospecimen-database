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ADF6E-BB3E-4728-B698-E0F04BD25EA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7C031-0C53-4820-82AF-53C80F768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58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7C031-0C53-4820-82AF-53C80F76897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97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3400" b="1">
                <a:solidFill>
                  <a:srgbClr val="FFFFFF"/>
                </a:solidFill>
              </a:defRPr>
            </a:pPr>
            <a:r>
              <a:rPr dirty="0"/>
              <a:t>Biobank &amp; Biospecimen</a:t>
            </a:r>
            <a:br>
              <a:rPr dirty="0"/>
            </a:br>
            <a:r>
              <a:rPr dirty="0"/>
              <a:t>Management System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1A8747-AFBA-B695-FD49-1CFF5384E89F}"/>
              </a:ext>
            </a:extLst>
          </p:cNvPr>
          <p:cNvSpPr txBox="1"/>
          <p:nvPr/>
        </p:nvSpPr>
        <p:spPr>
          <a:xfrm>
            <a:off x="731520" y="3454923"/>
            <a:ext cx="6117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1A4B0"/>
                </a:solidFill>
              </a:defRPr>
            </a:pPr>
            <a:r>
              <a:rPr lang="en-US" sz="1600" dirty="0"/>
              <a:t>Name : Malak Mohamed Abouelwafa </a:t>
            </a:r>
          </a:p>
          <a:p>
            <a:pPr>
              <a:defRPr sz="1300" b="1">
                <a:solidFill>
                  <a:srgbClr val="31A4B0"/>
                </a:solidFill>
              </a:defRPr>
            </a:pPr>
            <a:r>
              <a:rPr lang="en-US" sz="1600" b="1" dirty="0"/>
              <a:t>ID : 231002183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rPr lang="en-US"/>
              <a:t>PROJECT OVERVIEW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1" y="1947672"/>
            <a:ext cx="310896" cy="310896"/>
          </a:xfrm>
          <a:prstGeom prst="ellipse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1911095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rPr dirty="0"/>
              <a:t>Requirements &amp; scope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rPr dirty="0"/>
              <a:t>Defined biobank lifecycle, assumptions and business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36792" y="1947672"/>
            <a:ext cx="310896" cy="310896"/>
          </a:xfrm>
          <a:prstGeom prst="ellipse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911095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Conceptual design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13 relational tables, PK/FK structure and ER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62072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4671" y="3026664"/>
            <a:ext cx="310896" cy="310896"/>
          </a:xfrm>
          <a:prstGeom prst="ellipse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2990088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M:N relationship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Researcher ↔ Research Project resolved by researcher_project.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862072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36792" y="3026664"/>
            <a:ext cx="310896" cy="310896"/>
          </a:xfrm>
          <a:prstGeom prst="ellipse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2990088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3NF normalization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Atomic attributes, full key dependency and no transitive dependency.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41063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4671" y="4105655"/>
            <a:ext cx="310896" cy="310896"/>
          </a:xfrm>
          <a:prstGeom prst="ellipse">
            <a:avLst/>
          </a:prstGeom>
          <a:solidFill>
            <a:srgbClr val="31A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4069079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Implementation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MySQL DDL, constraints and indexes.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941063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36792" y="4105655"/>
            <a:ext cx="310896" cy="310896"/>
          </a:xfrm>
          <a:prstGeom prst="ellipse">
            <a:avLst/>
          </a:prstGeom>
          <a:solidFill>
            <a:srgbClr val="31A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4069079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SQL operations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Retrieval, JOIN, aggregation, subquery, INSERT, UPDATE and DELETE.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20056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4671" y="5184648"/>
            <a:ext cx="310896" cy="310896"/>
          </a:xfrm>
          <a:prstGeom prst="ellipse">
            <a:avLst/>
          </a:prstGeom>
          <a:solidFill>
            <a:srgbClr val="31A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34440" y="5148072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Advanced objects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Two views, one trigger and one stored procedure.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5020056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36792" y="5184648"/>
            <a:ext cx="310896" cy="310896"/>
          </a:xfrm>
          <a:prstGeom prst="ellipse">
            <a:avLst/>
          </a:prstGeom>
          <a:solidFill>
            <a:srgbClr val="31A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5148072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Testing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SQL operations, views, trigger, procedure and FK integrity validated.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t>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03520" cy="425196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4251960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4892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The problem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Biobanks manage highly connected information about donors, consent, collections, samples and research.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Unstructured or duplicated records can cause inconsistent information and make sample traceability difficult.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Sample usage must be controlled because recorded consumption cannot exceed the available specimen volume.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303520" cy="425196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64008" cy="4251960"/>
          </a:xfrm>
          <a:prstGeom prst="rect">
            <a:avLst/>
          </a:prstGeom>
          <a:solidFill>
            <a:srgbClr val="31A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947672"/>
            <a:ext cx="4892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Database solution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Centralized relational structure with primary and foreign keys.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Traceability from donor → collection → sample → aliquot/storage → research use or testing.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Integrity constraints and database-level logic reduce invalid data and business-rule violations.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rPr dirty="0"/>
              <a:t>Project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1325880" cy="114300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337"/>
                </a:solidFill>
              </a:defRPr>
            </a:pPr>
            <a:r>
              <a:t>Donor</a:t>
            </a:r>
            <a:br/>
            <a:r>
              <a:t>Registration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856232" y="2587752"/>
            <a:ext cx="256032" cy="320040"/>
          </a:xfrm>
          <a:prstGeom prst="rightArrow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30552" y="2194560"/>
            <a:ext cx="1325880" cy="114300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337"/>
                </a:solidFill>
              </a:defRPr>
            </a:pPr>
            <a:r>
              <a:t>Consent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83864" y="2587752"/>
            <a:ext cx="256032" cy="320040"/>
          </a:xfrm>
          <a:prstGeom prst="rightArrow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58184" y="2194560"/>
            <a:ext cx="1325880" cy="114300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337"/>
                </a:solidFill>
              </a:defRPr>
            </a:pPr>
            <a:r>
              <a:t>Collection</a:t>
            </a:r>
            <a:br/>
            <a:r>
              <a:t>Event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111496" y="2587752"/>
            <a:ext cx="256032" cy="320040"/>
          </a:xfrm>
          <a:prstGeom prst="rightArrow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85816" y="2194560"/>
            <a:ext cx="1325880" cy="114300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337"/>
                </a:solidFill>
              </a:defRPr>
            </a:pPr>
            <a:r>
              <a:t>Sample</a:t>
            </a:r>
            <a:br/>
            <a:r>
              <a:t>Creation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739127" y="2587752"/>
            <a:ext cx="256032" cy="320040"/>
          </a:xfrm>
          <a:prstGeom prst="rightArrow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013448" y="2194560"/>
            <a:ext cx="1325880" cy="114300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337"/>
                </a:solidFill>
              </a:defRPr>
            </a:pPr>
            <a:r>
              <a:t>Aliquot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66760" y="2587752"/>
            <a:ext cx="256032" cy="320040"/>
          </a:xfrm>
          <a:prstGeom prst="rightArrow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41080" y="2194560"/>
            <a:ext cx="1325880" cy="114300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337"/>
                </a:solidFill>
              </a:defRPr>
            </a:pPr>
            <a:r>
              <a:t>Storage</a:t>
            </a:r>
            <a:br/>
            <a:r>
              <a:t>Location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994392" y="2587752"/>
            <a:ext cx="256032" cy="320040"/>
          </a:xfrm>
          <a:prstGeom prst="rightArrow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68712" y="2194560"/>
            <a:ext cx="1325880" cy="114300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337"/>
                </a:solidFill>
              </a:defRPr>
            </a:pPr>
            <a:r>
              <a:t>Research</a:t>
            </a:r>
            <a:br/>
            <a:r>
              <a:t>Testing / Usage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86200"/>
            <a:ext cx="3429000" cy="155448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886200"/>
            <a:ext cx="64008" cy="1554480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050791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In scope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Donors, consent, collections, samples, storage, aliquots.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Researchers, projects, laboratory tests and sample usage.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3886200"/>
            <a:ext cx="3429000" cy="155448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18120" y="3886200"/>
            <a:ext cx="64008" cy="1554480"/>
          </a:xfrm>
          <a:prstGeom prst="rect">
            <a:avLst/>
          </a:prstGeom>
          <a:solidFill>
            <a:srgbClr val="DE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0" y="4050791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Assumption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Donor information uses anonymized donor codes rather than real patient-identifying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rPr dirty="0"/>
              <a:t>Business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1" y="1947672"/>
            <a:ext cx="310896" cy="310896"/>
          </a:xfrm>
          <a:prstGeom prst="ellipse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1911095"/>
            <a:ext cx="2743200" cy="507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rPr dirty="0"/>
              <a:t>BR1  •  Unique donor code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rPr dirty="0"/>
              <a:t>Each donor must have a unique identifier.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07992" y="1947672"/>
            <a:ext cx="310896" cy="310896"/>
          </a:xfrm>
          <a:prstGeom prst="ellipse">
            <a:avLst/>
          </a:prstGeom>
          <a:solidFill>
            <a:srgbClr val="31A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1911095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BR2  •  Collection ownership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Each collection event belongs to one donor.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8308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11311" y="1947672"/>
            <a:ext cx="310896" cy="310896"/>
          </a:xfrm>
          <a:prstGeom prst="ellipse">
            <a:avLst/>
          </a:prstGeom>
          <a:solidFill>
            <a:srgbClr val="DE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1911095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BR3  •  Sample ownership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Each sample belongs to one collection event and one sample type.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1" y="3913631"/>
            <a:ext cx="310896" cy="310896"/>
          </a:xfrm>
          <a:prstGeom prst="ellipse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3877055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BR4  •  Aliquot storage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Each aliquot is associated with one storage location.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749039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07992" y="3913631"/>
            <a:ext cx="310896" cy="310896"/>
          </a:xfrm>
          <a:prstGeom prst="ellipse">
            <a:avLst/>
          </a:prstGeom>
          <a:solidFill>
            <a:srgbClr val="31A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0" y="3877055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BR5  •  M:N research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Researchers and projects connect through researcher_project.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3749039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11311" y="3913631"/>
            <a:ext cx="310896" cy="310896"/>
          </a:xfrm>
          <a:prstGeom prst="ellipse">
            <a:avLst/>
          </a:prstGeom>
          <a:solidFill>
            <a:srgbClr val="DE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41080" y="3877055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BR6  •  Volume safety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Sample usage must be positive and cannot exceed remaining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t>13 Entities /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429000" cy="429768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BIOSPECIMEN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2560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• Donor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299923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• Consent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343814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• Sample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387705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• Collection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43159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• 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75487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• Storage 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519379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• Aliquot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778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67E7C"/>
                </a:solidFill>
              </a:defRPr>
            </a:pPr>
            <a:r>
              <a:t>7 tables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783080"/>
            <a:ext cx="3429000" cy="4297680"/>
          </a:xfrm>
          <a:prstGeom prst="roundRect">
            <a:avLst/>
          </a:prstGeom>
          <a:solidFill>
            <a:srgbClr val="F1F7F7"/>
          </a:solidFill>
          <a:ln>
            <a:solidFill>
              <a:srgbClr val="31A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96596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560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• Researcher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99923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• Research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43814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• Researcher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5778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1A4B0"/>
                </a:solidFill>
              </a:defRPr>
            </a:pPr>
            <a:r>
              <a:t>3 tables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783080"/>
            <a:ext cx="3429000" cy="4297680"/>
          </a:xfrm>
          <a:prstGeom prst="roundRect">
            <a:avLst/>
          </a:prstGeom>
          <a:solidFill>
            <a:srgbClr val="F1F7F7"/>
          </a:solidFill>
          <a:ln>
            <a:solidFill>
              <a:srgbClr val="DE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58200" y="196596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7"/>
                </a:solidFill>
              </a:defRPr>
            </a:pPr>
            <a:r>
              <a:t>LABORATORY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560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• Test 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99923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• Test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43814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D37"/>
                </a:solidFill>
              </a:defRPr>
            </a:pPr>
            <a:r>
              <a:t>• Sample Usage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5778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EA63D"/>
                </a:solidFill>
              </a:defRPr>
            </a:pPr>
            <a:r>
              <a:t>3 tables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t>Entity–Relationship Diagram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38F48BA-0D99-AF01-6CC7-E5C123D45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450" y="658368"/>
            <a:ext cx="6617616" cy="5998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rPr dirty="0"/>
              <a:t>Key Relationships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3736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Relationship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Cardinality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Donor → Consent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 : M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A donor may have multiple consent records.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Donor → Collection Event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 :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A donor may have multiple collection events.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Collection Event → Sample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 : M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One event can produce multiple samples.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Sample Type → 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 :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One type classifies many samples.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Sample → Aliquot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 : M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A sample can be divided into multiple aliquots.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Storage Location → Aliquot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 :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A location can store multiple aliquots.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Researcher ↔ Research Project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M : N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Resolved through researcher_project.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Sample → Test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 :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A sample can have multiple tests.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Sample → Sample Usage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1 : M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Sample consumption is recorded per usage event.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t>Many-to-Many Relationship: Researcher ↔ Research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743200" cy="1325880"/>
          </a:xfrm>
          <a:prstGeom prst="roundRect">
            <a:avLst/>
          </a:prstGeom>
          <a:solidFill>
            <a:srgbClr val="F1F7F7"/>
          </a:solidFill>
          <a:ln w="25400"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7"/>
                </a:solidFill>
              </a:defRPr>
            </a:pPr>
            <a:r>
              <a:t>RESEARCHER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057400"/>
            <a:ext cx="2743200" cy="1325880"/>
          </a:xfrm>
          <a:prstGeom prst="roundRect">
            <a:avLst/>
          </a:prstGeom>
          <a:solidFill>
            <a:srgbClr val="F1F7F7"/>
          </a:solidFill>
          <a:ln w="25400">
            <a:solidFill>
              <a:srgbClr val="31A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7"/>
                </a:solidFill>
              </a:defRPr>
            </a:pPr>
            <a:r>
              <a:t>RESEARCHER_PROJECT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057400"/>
            <a:ext cx="2743200" cy="1325880"/>
          </a:xfrm>
          <a:prstGeom prst="roundRect">
            <a:avLst/>
          </a:prstGeom>
          <a:solidFill>
            <a:srgbClr val="F1F7F7"/>
          </a:solidFill>
          <a:ln w="25400"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337"/>
                </a:solidFill>
              </a:defRPr>
            </a:pPr>
            <a:r>
              <a:t>RESEARCH PROJECT</a:t>
            </a:r>
          </a:p>
        </p:txBody>
      </p:sp>
      <p:sp>
        <p:nvSpPr>
          <p:cNvPr id="11" name="Left-Right Arrow 10"/>
          <p:cNvSpPr/>
          <p:nvPr/>
        </p:nvSpPr>
        <p:spPr>
          <a:xfrm>
            <a:off x="3493008" y="2514600"/>
            <a:ext cx="960120" cy="411480"/>
          </a:xfrm>
          <a:prstGeom prst="leftRightArrow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eft-Right Arrow 11"/>
          <p:cNvSpPr/>
          <p:nvPr/>
        </p:nvSpPr>
        <p:spPr>
          <a:xfrm>
            <a:off x="7470648" y="2514600"/>
            <a:ext cx="960120" cy="411480"/>
          </a:xfrm>
          <a:prstGeom prst="leftRightArrow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3520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7E7C"/>
                </a:solidFill>
              </a:defRPr>
            </a:pPr>
            <a: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5204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7E7C"/>
                </a:solidFill>
              </a:defRPr>
            </a:pPr>
            <a:r>
              <a:t>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3383280" cy="150876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069080"/>
            <a:ext cx="64008" cy="1508760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233672"/>
            <a:ext cx="29718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Why associative table?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Relational DBMSs implement M:N through two 1:M relationships.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It prevents repeating researcher/project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069080"/>
            <a:ext cx="3383280" cy="150876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4069080"/>
            <a:ext cx="64008" cy="1508760"/>
          </a:xfrm>
          <a:prstGeom prst="rect">
            <a:avLst/>
          </a:prstGeom>
          <a:solidFill>
            <a:srgbClr val="31A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4233672"/>
            <a:ext cx="29718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Composite primary key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researcher_id + project_id uniquely identifies an assignment.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069080"/>
            <a:ext cx="3383280" cy="150876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4069080"/>
            <a:ext cx="64008" cy="1508760"/>
          </a:xfrm>
          <a:prstGeom prst="rect">
            <a:avLst/>
          </a:prstGeom>
          <a:solidFill>
            <a:srgbClr val="DE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4233672"/>
            <a:ext cx="29718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Relationship attributes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assigned_date and project_role describe the assignment itself.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rPr dirty="0"/>
              <a:t>Relational Schema: Keys &amp; Relationships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019603"/>
              </p:ext>
            </p:extLst>
          </p:nvPr>
        </p:nvGraphicFramePr>
        <p:xfrm>
          <a:off x="640080" y="1783080"/>
          <a:ext cx="108813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Foreign Key 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DONOR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donor_id PK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donor_code UNIQUE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CONSENT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consent_id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donor_id FK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COLLECTION_EVENT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collection_id PK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donor_id FK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sample_id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collection_id FK; sample_type_id FK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ALIQUOT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aliquot_id PK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sample_id FK; location_id FK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RESEARCHER_PROJECT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researcher_id PK/FK; project_id PK/FK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Composite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TEST_REQUEST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test_request_id PK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sample_id; researcher_id; test_type_id FKs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SAMPLE_USAGE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sample_usage_id PK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rPr dirty="0" err="1"/>
                        <a:t>sample_id</a:t>
                      </a:r>
                      <a:r>
                        <a:rPr dirty="0"/>
                        <a:t>; </a:t>
                      </a:r>
                      <a:r>
                        <a:rPr dirty="0" err="1"/>
                        <a:t>researcher_id</a:t>
                      </a:r>
                      <a:r>
                        <a:rPr dirty="0"/>
                        <a:t>; </a:t>
                      </a:r>
                      <a:r>
                        <a:rPr dirty="0" err="1"/>
                        <a:t>project_id</a:t>
                      </a:r>
                      <a:r>
                        <a:rPr dirty="0"/>
                        <a:t> FKs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t>Normalization to Third Normal Form (3NF)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383280" cy="338328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67E7C"/>
                </a:solidFill>
              </a:defRPr>
            </a:pPr>
            <a:r>
              <a:t>1NF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2337"/>
                </a:solidFill>
              </a:defRPr>
            </a:pPr>
            <a:r>
              <a:t>ATOMIC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170483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D37"/>
                </a:solidFill>
              </a:defRPr>
            </a:pPr>
            <a:r>
              <a:rPr dirty="0"/>
              <a:t>Each field stores a single value; no repeating groups or multi-valued fields.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383280" cy="3383280"/>
          </a:xfrm>
          <a:prstGeom prst="roundRect">
            <a:avLst/>
          </a:prstGeom>
          <a:solidFill>
            <a:srgbClr val="F1F7F7"/>
          </a:solidFill>
          <a:ln>
            <a:solidFill>
              <a:srgbClr val="31A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31A4B0"/>
                </a:solidFill>
              </a:defRPr>
            </a:pPr>
            <a:r>
              <a:t>2NF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88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2337"/>
                </a:solidFill>
              </a:defRPr>
            </a:pPr>
            <a:r>
              <a:t>FULL KEY DEPENDENCY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429000"/>
            <a:ext cx="16308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D37"/>
                </a:solidFill>
              </a:defRPr>
            </a:pPr>
            <a:r>
              <a:rPr dirty="0"/>
              <a:t>Non-key attributes depend on the complete key; especially important for </a:t>
            </a:r>
            <a:r>
              <a:rPr dirty="0" err="1"/>
              <a:t>researcher_project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828800"/>
            <a:ext cx="3383280" cy="3383280"/>
          </a:xfrm>
          <a:prstGeom prst="roundRect">
            <a:avLst/>
          </a:prstGeom>
          <a:solidFill>
            <a:srgbClr val="F1F7F7"/>
          </a:solidFill>
          <a:ln>
            <a:solidFill>
              <a:srgbClr val="DE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210312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DEA63D"/>
                </a:solidFill>
              </a:defRPr>
            </a:pPr>
            <a:r>
              <a:t>3NF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788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2337"/>
                </a:solidFill>
              </a:defRPr>
            </a:pPr>
            <a:r>
              <a:t>NO TRANSITIVE DEPENDENCY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429000"/>
            <a:ext cx="18584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D37"/>
                </a:solidFill>
              </a:defRPr>
            </a:pPr>
            <a:r>
              <a:rPr dirty="0"/>
              <a:t>Non-key attributes depend only on the primary key. Related classification/details are separated.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t>MySQL Implementation &amp; Project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1947672"/>
            <a:ext cx="310896" cy="310896"/>
          </a:xfrm>
          <a:prstGeom prst="ellipse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1911095"/>
            <a:ext cx="4434840" cy="507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rPr lang="en-US" dirty="0"/>
              <a:t>Biobank and Biospecimen Management System</a:t>
            </a:r>
            <a:r>
              <a:rPr dirty="0"/>
              <a:t>.sql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rPr dirty="0"/>
              <a:t>DDL, tables, PKs, FKs, constraints and indexes.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24328"/>
            <a:ext cx="51663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2788920"/>
            <a:ext cx="310896" cy="310896"/>
          </a:xfrm>
          <a:prstGeom prst="ellipse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2752344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load_data.sql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Meaningful test data for the relational tables.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65576"/>
            <a:ext cx="51663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6112" y="3630168"/>
            <a:ext cx="310896" cy="310896"/>
          </a:xfrm>
          <a:prstGeom prst="ellipse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3593592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queries.sql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SELECT, JOIN, aggregation, subquery, INSERT, UPDATE and DELETE.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06824"/>
            <a:ext cx="51663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4471416"/>
            <a:ext cx="310896" cy="310896"/>
          </a:xfrm>
          <a:prstGeom prst="ellipse">
            <a:avLst/>
          </a:prstGeom>
          <a:solidFill>
            <a:srgbClr val="31A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4434840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views.sql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Two reusable database views.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48072"/>
            <a:ext cx="51663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6112" y="5312664"/>
            <a:ext cx="310896" cy="310896"/>
          </a:xfrm>
          <a:prstGeom prst="ellipse">
            <a:avLst/>
          </a:prstGeom>
          <a:solidFill>
            <a:srgbClr val="31A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5880" y="5276088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337"/>
                </a:solidFill>
              </a:defRPr>
            </a:pPr>
            <a:r>
              <a:t>triggers_procedures.sql</a:t>
            </a:r>
          </a:p>
          <a:p>
            <a:pPr>
              <a:spcBef>
                <a:spcPts val="500"/>
              </a:spcBef>
              <a:defRPr sz="980">
                <a:solidFill>
                  <a:srgbClr val="697680"/>
                </a:solidFill>
              </a:defRPr>
            </a:pPr>
            <a:r>
              <a:t>Trigger and stored procedure.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83080"/>
            <a:ext cx="5120640" cy="352044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1783080"/>
            <a:ext cx="64008" cy="3520440"/>
          </a:xfrm>
          <a:prstGeom prst="rect">
            <a:avLst/>
          </a:prstGeom>
          <a:solidFill>
            <a:srgbClr val="31A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1947672"/>
            <a:ext cx="47091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rPr dirty="0"/>
              <a:t>Implementation environment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rPr dirty="0"/>
              <a:t>MySQL as the relational DBMS.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rPr dirty="0"/>
              <a:t>MySQL Workbench used for database creation, SQL execution, object inspection and ER modeling.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rPr dirty="0"/>
              <a:t>Primary keys and foreign keys enforce entity identity and referential integrity.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rPr dirty="0"/>
              <a:t>SQL Operations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9844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680"/>
                </a:solidFill>
              </a:defRPr>
            </a:pPr>
            <a:r>
              <a:t>The database supports retrieval, joins, aggregation, subqueries and data modification.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257800" cy="91440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847088"/>
            <a:ext cx="49286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-- Retrieval</a:t>
            </a:r>
            <a:br/>
            <a:r>
              <a:t>SELECT * FROM donor;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5257800" cy="132588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2898648"/>
            <a:ext cx="49286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-- JOIN</a:t>
            </a:r>
            <a:br/>
            <a:r>
              <a:t>SELECT d.donor_code, s.sample_code, s.status</a:t>
            </a:r>
            <a:br/>
            <a:r>
              <a:t>FROM donor d</a:t>
            </a:r>
            <a:br/>
            <a:r>
              <a:t>JOIN collection_event ce ON d.donor_id = ce.donor_id</a:t>
            </a:r>
            <a:br/>
            <a:r>
              <a:t>JOIN sample s ON ce.collection_id = s.collection_id;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0"/>
            <a:ext cx="5257800" cy="123444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4361688"/>
            <a:ext cx="49286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-- Aggregation</a:t>
            </a:r>
            <a:br/>
            <a:r>
              <a:t>SELECT d.donor_code, COUNT(s.sample_id) AS sample_count</a:t>
            </a:r>
            <a:br/>
            <a:r>
              <a:t>FROM donor d</a:t>
            </a:r>
            <a:br/>
            <a:r>
              <a:t>JOIN collection_event ce ON d.donor_id = ce.donor_id</a:t>
            </a:r>
            <a:br/>
            <a:r>
              <a:t>JOIN sample s ON ce.collection_id = s.collection_id</a:t>
            </a:r>
            <a:br/>
            <a:r>
              <a:t>GROUP BY d.donor_id, d.donor_code;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737360"/>
            <a:ext cx="5349240" cy="118872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847088"/>
            <a:ext cx="50200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-- Subquery</a:t>
            </a:r>
            <a:br/>
            <a:r>
              <a:t>SELECT sample_code, remaining_volume_ml</a:t>
            </a:r>
            <a:br/>
            <a:r>
              <a:t>FROM sample</a:t>
            </a:r>
            <a:br/>
            <a:r>
              <a:t>WHERE remaining_volume_ml &gt;</a:t>
            </a:r>
            <a:br/>
            <a:r>
              <a:t>      (SELECT AVG(remaining_volume_ml) FROM sample);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00400"/>
            <a:ext cx="5349240" cy="228600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3200400"/>
            <a:ext cx="64008" cy="2286000"/>
          </a:xfrm>
          <a:prstGeom prst="rect">
            <a:avLst/>
          </a:prstGeom>
          <a:solidFill>
            <a:srgbClr val="DE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364992"/>
            <a:ext cx="4937759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rPr dirty="0"/>
              <a:t>Data modification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rPr dirty="0"/>
              <a:t>INSERT — create a valid test record.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rPr dirty="0"/>
              <a:t>UPDATE — modify an existing record using a key-based WHERE condition.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rPr dirty="0"/>
              <a:t>DELETE — remove a temporary test record safely.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t>INSERT • UPDATE •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4720" cy="201168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938528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INSERT INTO researcher</a:t>
            </a:r>
            <a:br/>
            <a:r>
              <a:t>(researcher_code, first_name,</a:t>
            </a:r>
            <a:br/>
            <a:r>
              <a:t> last_name, email, department, role)</a:t>
            </a:r>
            <a:br/>
            <a:r>
              <a:t>VALUES</a:t>
            </a:r>
            <a:br/>
            <a:r>
              <a:t>('TEST001','Test','Researcher',</a:t>
            </a:r>
            <a:br/>
            <a:r>
              <a:t> 'test.researcher@biobank.com',</a:t>
            </a:r>
            <a:br/>
            <a:r>
              <a:t> 'Testing','Temporary');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474720" cy="150876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938528"/>
            <a:ext cx="31455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UPDATE donor</a:t>
            </a:r>
            <a:br/>
            <a:r>
              <a:t>SET status = 'Inactive'</a:t>
            </a:r>
            <a:br/>
            <a:r>
              <a:t>WHERE donor_id = 1;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150876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938528"/>
            <a:ext cx="31455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DELETE FROM researcher</a:t>
            </a:r>
            <a:br/>
            <a:r>
              <a:t>WHERE researcher_code = 'TEST001';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16552"/>
            <a:ext cx="104698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t>Two Database 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257800" cy="347472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3474720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VIEW 01 — donor_sample_view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Combines donor and sample information through reusable joins.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Simplifies frequent donor/sample retrieval.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Example: SELECT * FROM donor_sample_view;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257800" cy="347472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64008" cy="3474720"/>
          </a:xfrm>
          <a:prstGeom prst="rect">
            <a:avLst/>
          </a:prstGeom>
          <a:solidFill>
            <a:srgbClr val="31A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47672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VIEW 02 — test_request_view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Combines test requests with related samples, researchers and test types.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Simplifies laboratory test review.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Example: SELECT * FROM test_request_view;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t>Trigger &amp; Stored Procedure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257800" cy="361188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3611880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TRIGGER — check_sample_usage_volume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Executed BEFORE inserting a sample_usage record.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Checks that requested usage volume is positive.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Checks that requested volume does not exceed the sample's remaining volume.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Prevents physically impossible sample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120640" cy="100584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938528"/>
            <a:ext cx="479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SHOW TRIGGERS;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063240"/>
            <a:ext cx="5120640" cy="233172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3063240"/>
            <a:ext cx="64008" cy="2331720"/>
          </a:xfrm>
          <a:prstGeom prst="rect">
            <a:avLst/>
          </a:prstGeom>
          <a:solidFill>
            <a:srgbClr val="31A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227832"/>
            <a:ext cx="47091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t>PROCEDURE — get_donor_samples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Receives a donor identifier.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Retrieves biological samples associated with that donor.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t>Provides reusable donor-specific retrieval logic.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5486400"/>
            <a:ext cx="5120640" cy="594360"/>
          </a:xfrm>
          <a:prstGeom prst="round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1" y="5596128"/>
            <a:ext cx="47914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CALL get_donor_samples(1);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t>Testing Evidence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321739"/>
              </p:ext>
            </p:extLst>
          </p:nvPr>
        </p:nvGraphicFramePr>
        <p:xfrm>
          <a:off x="640080" y="1737360"/>
          <a:ext cx="725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result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Donor retrieval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Correct donor records returned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JOIN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Related donor/sample data returned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Aggregation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Sample counts calculated correctly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Subquery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Condition-based records returned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INSERT / UPDATE / DELETE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Test record lifecycle works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View 1 + View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Expected joined data returned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Invalid sample usage prevented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Stored procedure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Donor-specific samples retrieved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t>Foreign keys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32D37"/>
                          </a:solidFill>
                        </a:defRPr>
                      </a:pPr>
                      <a:r>
                        <a:rPr dirty="0"/>
                        <a:t>Invalid references rejected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t>Live Demonstration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2514600" cy="173736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94767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7E7C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7744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Open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77063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97680"/>
                </a:solidFill>
              </a:defRPr>
            </a:pPr>
            <a:r>
              <a:t>Show tables and final ERD.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783080"/>
            <a:ext cx="2514600" cy="173736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194767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7E7C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37744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Explain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770632"/>
            <a:ext cx="1515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97680"/>
                </a:solidFill>
              </a:defRPr>
            </a:pPr>
            <a:r>
              <a:rPr dirty="0"/>
              <a:t>Highlight PK/FK relationships and </a:t>
            </a:r>
            <a:r>
              <a:rPr dirty="0" err="1"/>
              <a:t>researcher_project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83080"/>
            <a:ext cx="2514600" cy="173736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194767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7E7C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37744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Run JOIN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770632"/>
            <a:ext cx="1715113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97680"/>
                </a:solidFill>
              </a:defRPr>
            </a:pPr>
            <a:r>
              <a:rPr dirty="0"/>
              <a:t>Show donor → collection → sample traceability.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1783080"/>
            <a:ext cx="2514600" cy="173736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71431" y="194767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7E7C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1" y="237744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Run aggregation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1" y="277063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97680"/>
                </a:solidFill>
              </a:defRPr>
            </a:pPr>
            <a:r>
              <a:rPr dirty="0"/>
              <a:t>Show sample counts per donor.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31920"/>
            <a:ext cx="2514600" cy="173736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4096511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7E7C"/>
                </a:solidFill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452628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Run subquery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4919472"/>
            <a:ext cx="166515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97680"/>
                </a:solidFill>
              </a:defRPr>
            </a:pPr>
            <a:r>
              <a:rPr dirty="0"/>
              <a:t>Show samples above average remaining volume.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3931920"/>
            <a:ext cx="2514600" cy="173736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4096511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7E7C"/>
                </a:solidFill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3592" y="452628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Open 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4919472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97680"/>
                </a:solidFill>
              </a:defRPr>
            </a:pPr>
            <a:r>
              <a:t>Demonstrate both database views.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31920"/>
            <a:ext cx="2514600" cy="173736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4096511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7E7C"/>
                </a:solidFill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52628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Advanced logic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919472"/>
            <a:ext cx="196021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97680"/>
                </a:solidFill>
              </a:defRPr>
            </a:pPr>
            <a:r>
              <a:t>SHOW TRIGGERS + CALL get_donor_samples(1).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839" y="3931920"/>
            <a:ext cx="2514600" cy="1737360"/>
          </a:xfrm>
          <a:prstGeom prst="roundRect">
            <a:avLst/>
          </a:prstGeom>
          <a:solidFill>
            <a:srgbClr val="F1F7F7"/>
          </a:solidFill>
          <a:ln>
            <a:solidFill>
              <a:srgbClr val="167E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71431" y="4096511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7E7C"/>
                </a:solidFill>
              </a:defRPr>
            </a:pPr>
            <a: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1" y="452628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7"/>
                </a:solidFill>
              </a:defRPr>
            </a:pPr>
            <a:r>
              <a:t>CRUD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1431" y="4919472"/>
            <a:ext cx="182964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97680"/>
                </a:solidFill>
              </a:defRPr>
            </a:pPr>
            <a:r>
              <a:rPr dirty="0"/>
              <a:t>Briefly show safe INSERT → UPDATE → DELETE.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7680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337"/>
                </a:solidFill>
              </a:defRPr>
            </a:pPr>
            <a:r>
              <a:t>Project Outcome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257800" cy="3931920"/>
          </a:xfrm>
          <a:prstGeom prst="roundRect">
            <a:avLst/>
          </a:prstGeom>
          <a:solidFill>
            <a:srgbClr val="F1F7F7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64008" cy="3931920"/>
          </a:xfrm>
          <a:prstGeom prst="rect">
            <a:avLst/>
          </a:prstGeom>
          <a:solidFill>
            <a:srgbClr val="16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2337"/>
                </a:solidFill>
              </a:defRPr>
            </a:pPr>
            <a:r>
              <a:rPr dirty="0"/>
              <a:t>What was achieved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rPr dirty="0"/>
              <a:t>Realistic biotechnology / biobank problem with defined scope.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rPr dirty="0"/>
              <a:t>13-table relational model with primary and foreign keys.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rPr dirty="0"/>
              <a:t>Multiple 1:M relationships and an M:N relationship resolved through an associative table.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rPr dirty="0"/>
              <a:t>Database normalized to Third Normal Form.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rPr dirty="0"/>
              <a:t>Required SQL operations, two views, a trigger and a stored procedure.</a:t>
            </a:r>
          </a:p>
          <a:p>
            <a:pPr>
              <a:spcBef>
                <a:spcPts val="700"/>
              </a:spcBef>
              <a:defRPr sz="1150">
                <a:solidFill>
                  <a:srgbClr val="232D37"/>
                </a:solidFill>
              </a:defRPr>
            </a:pPr>
            <a:r>
              <a:rPr dirty="0"/>
              <a:t>Testing performed in MySQL Workbench.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6760" y="2880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1618</Words>
  <Application>Microsoft Office PowerPoint</Application>
  <PresentationFormat>Widescreen</PresentationFormat>
  <Paragraphs>283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mariam</dc:creator>
  <cp:keywords/>
  <dc:description>generated using python-pptx</dc:description>
  <cp:lastModifiedBy>mariam mohamed</cp:lastModifiedBy>
  <cp:revision>3</cp:revision>
  <dcterms:created xsi:type="dcterms:W3CDTF">2013-01-27T09:14:16Z</dcterms:created>
  <dcterms:modified xsi:type="dcterms:W3CDTF">2026-08-15T19:07:12Z</dcterms:modified>
  <cp:category/>
</cp:coreProperties>
</file>